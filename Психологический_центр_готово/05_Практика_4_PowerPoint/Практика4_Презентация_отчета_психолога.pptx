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Баллы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Р1</c:v>
                  </c:pt>
                  <c:pt idx="1">
                    <c:v>Р2</c:v>
                  </c:pt>
                  <c:pt idx="2">
                    <c:v>Р3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26</c:v>
                </c:pt>
                <c:pt idx="2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F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FF7F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32320" y="-731520"/>
            <a:ext cx="5394960" cy="5394960"/>
          </a:xfrm>
          <a:prstGeom prst="arc">
            <a:avLst/>
          </a:prstGeom>
          <a:noFill/>
          <a:ln w="50800">
            <a:solidFill>
              <a:srgbClr val="2F686D">
                <a:alpha val="8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83480"/>
            <a:ext cx="12188952" cy="1874520"/>
          </a:xfrm>
          <a:prstGeom prst="rect">
            <a:avLst/>
          </a:prstGeom>
          <a:solidFill>
            <a:srgbClr val="F5EFE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143000"/>
            <a:ext cx="6766560" cy="1325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Отчет психолога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 проведенных исследованиях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743200"/>
            <a:ext cx="5669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68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Психологический центр «Гармония»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5349240"/>
            <a:ext cx="3840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Выполнил(а): [ФИО]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Группа: [Группа]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503920" y="553212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979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Практическая работа 4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9552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2F68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Основная информация об отчете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74980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Перечень проведенных психологических тестов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49808" y="1600200"/>
            <a:ext cx="137160" cy="512064"/>
          </a:xfrm>
          <a:prstGeom prst="rect">
            <a:avLst/>
          </a:prstGeom>
          <a:solidFill>
            <a:srgbClr val="2F686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4128" y="1591056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Уровень тревожности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24128" y="189280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 вопросов, ответы Да/Нет, балльная интерпретация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49808" y="2532888"/>
            <a:ext cx="137160" cy="512064"/>
          </a:xfrm>
          <a:prstGeom prst="rect">
            <a:avLst/>
          </a:prstGeom>
          <a:solidFill>
            <a:srgbClr val="B97B5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4128" y="2523744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Психологический комфорт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24128" y="282549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обязательных вопросов разных типов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49808" y="3465576"/>
            <a:ext cx="137160" cy="512064"/>
          </a:xfrm>
          <a:prstGeom prst="rect">
            <a:avLst/>
          </a:prstGeom>
          <a:solidFill>
            <a:srgbClr val="2F686D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3456432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Первичная форма приема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24128" y="3758184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фиксация запроса клиента и рекомендаций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49808" y="4398264"/>
            <a:ext cx="137160" cy="512064"/>
          </a:xfrm>
          <a:prstGeom prst="rect">
            <a:avLst/>
          </a:prstGeom>
          <a:solidFill>
            <a:srgbClr val="B97B5B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128" y="4389120"/>
            <a:ext cx="4389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Реестр консультаций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24128" y="4690872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клиент, специалист, дата, результат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6419088"/>
            <a:ext cx="11155680" cy="0"/>
          </a:xfrm>
          <a:prstGeom prst="line">
            <a:avLst/>
          </a:prstGeom>
          <a:noFill/>
          <a:ln w="12700">
            <a:solidFill>
              <a:srgbClr val="D7E4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647395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79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[ФИО] | [Группа]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9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9552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2F68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 «Уровень тревожности»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74980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Сетевое анкетирование и интерпретация результатов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1417320"/>
            <a:ext cx="557784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Форма содержит 60 обязательных вопросов. Для каждого вопроса выбран тип ответа «один из списка»: Да / Нет. Результат считается по ключу: часть утверждений оценивается за ответ «Да», часть - за ответ «Нет».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675120" y="1417320"/>
            <a:ext cx="2331720" cy="438912"/>
          </a:xfrm>
          <a:prstGeom prst="roundRect">
            <a:avLst>
              <a:gd name="adj" fmla="val 16667"/>
            </a:avLst>
          </a:prstGeom>
          <a:solidFill>
            <a:srgbClr val="F4D7D0"/>
          </a:solidFill>
          <a:ln w="12700">
            <a:solidFill>
              <a:srgbClr val="C9DCD8">
                <a:alpha val="85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84848" y="1536192"/>
            <a:ext cx="2112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40-50: очень высокий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675120" y="1993392"/>
            <a:ext cx="2331720" cy="438912"/>
          </a:xfrm>
          <a:prstGeom prst="roundRect">
            <a:avLst>
              <a:gd name="adj" fmla="val 16667"/>
            </a:avLst>
          </a:prstGeom>
          <a:solidFill>
            <a:srgbClr val="F4E4C7"/>
          </a:solidFill>
          <a:ln w="12700">
            <a:solidFill>
              <a:srgbClr val="C9DCD8">
                <a:alpha val="8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84848" y="2112264"/>
            <a:ext cx="2112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25-40: высокий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675120" y="2569464"/>
            <a:ext cx="2331720" cy="438912"/>
          </a:xfrm>
          <a:prstGeom prst="roundRect">
            <a:avLst>
              <a:gd name="adj" fmla="val 16667"/>
            </a:avLst>
          </a:prstGeom>
          <a:solidFill>
            <a:srgbClr val="E3EFCF"/>
          </a:solidFill>
          <a:ln w="12700">
            <a:solidFill>
              <a:srgbClr val="C9DCD8">
                <a:alpha val="8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84848" y="2688336"/>
            <a:ext cx="2112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15-25: средний+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675120" y="3145536"/>
            <a:ext cx="2331720" cy="438912"/>
          </a:xfrm>
          <a:prstGeom prst="roundRect">
            <a:avLst>
              <a:gd name="adj" fmla="val 16667"/>
            </a:avLst>
          </a:prstGeom>
          <a:solidFill>
            <a:srgbClr val="DDEDEA"/>
          </a:solidFill>
          <a:ln w="12700">
            <a:solidFill>
              <a:srgbClr val="C9DCD8">
                <a:alpha val="85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84848" y="3264408"/>
            <a:ext cx="2112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5-15: средний-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675120" y="3721608"/>
            <a:ext cx="2331720" cy="438912"/>
          </a:xfrm>
          <a:prstGeom prst="roundRect">
            <a:avLst>
              <a:gd name="adj" fmla="val 16667"/>
            </a:avLst>
          </a:prstGeom>
          <a:solidFill>
            <a:srgbClr val="E8EEF6"/>
          </a:solidFill>
          <a:ln w="12700">
            <a:solidFill>
              <a:srgbClr val="C9DCD8">
                <a:alpha val="85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84848" y="3840480"/>
            <a:ext cx="21122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0-5: низкий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49808" y="2880360"/>
            <a:ext cx="5303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D6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Контроль достоверности: если контрольных ответов больше 5, результат может быть недостоверным.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6419088"/>
            <a:ext cx="11155680" cy="0"/>
          </a:xfrm>
          <a:prstGeom prst="line">
            <a:avLst/>
          </a:prstGeom>
          <a:noFill/>
          <a:ln w="12700">
            <a:solidFill>
              <a:srgbClr val="D7E4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647395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79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[ФИО] | [Группа]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9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9552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2F68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Анкета психологического комфорта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74980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Собственная анкета для сетевого опроса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1417320"/>
            <a:ext cx="576072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Анкета включает 12 обязательных вопросов разных типов: краткий ответ, один из списка, несколько вариантов, линейная шкала и развернутый ответ. Вопросы возраста и пола включены отдельно.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20840" y="1325880"/>
            <a:ext cx="3794760" cy="502920"/>
          </a:xfrm>
          <a:prstGeom prst="roundRect">
            <a:avLst>
              <a:gd name="adj" fmla="val 10909"/>
            </a:avLst>
          </a:prstGeom>
          <a:solidFill>
            <a:srgbClr val="EFF7F5"/>
          </a:solidFill>
          <a:ln w="12700">
            <a:solidFill>
              <a:srgbClr val="D7E4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76288" y="1408176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68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Возраст и пол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641080" y="1408176"/>
            <a:ext cx="1691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обязательные сведения</a:t>
            </a:r>
            <a:endParaRPr lang="en-US" sz="920" dirty="0"/>
          </a:p>
        </p:txBody>
      </p:sp>
      <p:sp>
        <p:nvSpPr>
          <p:cNvPr id="8" name="Shape 6"/>
          <p:cNvSpPr/>
          <p:nvPr/>
        </p:nvSpPr>
        <p:spPr>
          <a:xfrm>
            <a:off x="6720840" y="2112264"/>
            <a:ext cx="3794760" cy="502920"/>
          </a:xfrm>
          <a:prstGeom prst="roundRect">
            <a:avLst>
              <a:gd name="adj" fmla="val 10909"/>
            </a:avLst>
          </a:prstGeom>
          <a:solidFill>
            <a:srgbClr val="F5EFE4"/>
          </a:solidFill>
          <a:ln w="12700">
            <a:solidFill>
              <a:srgbClr val="D7E4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76288" y="2194560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68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 стресса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641080" y="2194560"/>
            <a:ext cx="1691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несколько вариантов</a:t>
            </a:r>
            <a:endParaRPr lang="en-US" sz="920" dirty="0"/>
          </a:p>
        </p:txBody>
      </p:sp>
      <p:sp>
        <p:nvSpPr>
          <p:cNvPr id="11" name="Shape 9"/>
          <p:cNvSpPr/>
          <p:nvPr/>
        </p:nvSpPr>
        <p:spPr>
          <a:xfrm>
            <a:off x="6720840" y="2898648"/>
            <a:ext cx="3794760" cy="502920"/>
          </a:xfrm>
          <a:prstGeom prst="roundRect">
            <a:avLst>
              <a:gd name="adj" fmla="val 10909"/>
            </a:avLst>
          </a:prstGeom>
          <a:solidFill>
            <a:srgbClr val="EFF7F5"/>
          </a:solidFill>
          <a:ln w="12700">
            <a:solidFill>
              <a:srgbClr val="D7E4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76288" y="2980944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68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Комфорт и готовность обратиться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641080" y="2980944"/>
            <a:ext cx="1691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шкалы 1-5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6720840" y="3685032"/>
            <a:ext cx="3794760" cy="502920"/>
          </a:xfrm>
          <a:prstGeom prst="roundRect">
            <a:avLst>
              <a:gd name="adj" fmla="val 10909"/>
            </a:avLst>
          </a:prstGeom>
          <a:solidFill>
            <a:srgbClr val="F5EFE4"/>
          </a:solidFill>
          <a:ln w="12700">
            <a:solidFill>
              <a:srgbClr val="D7E4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76288" y="376732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68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Комментарий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641080" y="3767328"/>
            <a:ext cx="1691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свободный ответ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502920" y="6419088"/>
            <a:ext cx="11155680" cy="0"/>
          </a:xfrm>
          <a:prstGeom prst="line">
            <a:avLst/>
          </a:prstGeom>
          <a:noFill/>
          <a:ln w="12700">
            <a:solidFill>
              <a:srgbClr val="D7E4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47395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79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[ФИО] | [Группа]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9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9552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2F68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Результаты анкетирования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74980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заполненные анкеты для обработки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" y="1444752"/>
          <a:ext cx="6675120" cy="2194560"/>
        </p:xfrm>
        <a:graphic>
          <a:graphicData uri="http://schemas.openxmlformats.org/drawingml/2006/table">
            <a:tbl>
              <a:tblPr/>
              <a:tblGrid>
                <a:gridCol w="1554480"/>
                <a:gridCol w="1097280"/>
                <a:gridCol w="40233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35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Респондент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35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Баллы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35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Интерпретация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35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35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35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очень высокий уровень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35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35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35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высокий уровень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35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35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353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средний с тенденцией к низкому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mid">
                    <a:lnL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7E4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0" descr=""/>
          <p:cNvGraphicFramePr/>
          <p:nvPr/>
        </p:nvGraphicFramePr>
        <p:xfrm>
          <a:off x="7818120" y="1325880"/>
          <a:ext cx="338328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2"/>
          <p:cNvSpPr/>
          <p:nvPr/>
        </p:nvSpPr>
        <p:spPr>
          <a:xfrm>
            <a:off x="502920" y="6419088"/>
            <a:ext cx="11155680" cy="0"/>
          </a:xfrm>
          <a:prstGeom prst="line">
            <a:avLst/>
          </a:prstGeom>
          <a:noFill/>
          <a:ln w="12700">
            <a:solidFill>
              <a:srgbClr val="D7E4E1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548640" y="647395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79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[ФИО] | [Группа]</a:t>
            </a:r>
            <a:endParaRPr lang="en-US" sz="850" dirty="0"/>
          </a:p>
        </p:txBody>
      </p:sp>
      <p:sp>
        <p:nvSpPr>
          <p:cNvPr id="8" name="Text 4"/>
          <p:cNvSpPr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9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9552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2F68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Первичная форма приема клиента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74980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Шаблон Word для фиксации обращения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77240" y="1417320"/>
            <a:ext cx="4434840" cy="512064"/>
          </a:xfrm>
          <a:prstGeom prst="roundRect">
            <a:avLst>
              <a:gd name="adj" fmla="val 10714"/>
            </a:avLst>
          </a:prstGeom>
          <a:solidFill>
            <a:srgbClr val="EFF7F5"/>
          </a:solidFill>
          <a:ln w="12700">
            <a:solidFill>
              <a:srgbClr val="D7E4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41832" y="1563624"/>
            <a:ext cx="4069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Контактные данные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897880" y="1417320"/>
            <a:ext cx="4434840" cy="512064"/>
          </a:xfrm>
          <a:prstGeom prst="roundRect">
            <a:avLst>
              <a:gd name="adj" fmla="val 10714"/>
            </a:avLst>
          </a:prstGeom>
          <a:solidFill>
            <a:srgbClr val="F5EFE4"/>
          </a:solidFill>
          <a:ln w="12700">
            <a:solidFill>
              <a:srgbClr val="D7E4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062472" y="1563624"/>
            <a:ext cx="4069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Запрос клиента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7240" y="2377440"/>
            <a:ext cx="4434840" cy="512064"/>
          </a:xfrm>
          <a:prstGeom prst="roundRect">
            <a:avLst>
              <a:gd name="adj" fmla="val 10714"/>
            </a:avLst>
          </a:prstGeom>
          <a:solidFill>
            <a:srgbClr val="EFF7F5"/>
          </a:solidFill>
          <a:ln w="12700">
            <a:solidFill>
              <a:srgbClr val="D7E4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1832" y="2523744"/>
            <a:ext cx="4069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Основные жалобы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897880" y="2377440"/>
            <a:ext cx="4434840" cy="512064"/>
          </a:xfrm>
          <a:prstGeom prst="roundRect">
            <a:avLst>
              <a:gd name="adj" fmla="val 10714"/>
            </a:avLst>
          </a:prstGeom>
          <a:solidFill>
            <a:srgbClr val="F5EFE4"/>
          </a:solidFill>
          <a:ln w="12700">
            <a:solidFill>
              <a:srgbClr val="D7E4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62472" y="2523744"/>
            <a:ext cx="4069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Краткий анамнез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77240" y="3337560"/>
            <a:ext cx="4434840" cy="512064"/>
          </a:xfrm>
          <a:prstGeom prst="roundRect">
            <a:avLst>
              <a:gd name="adj" fmla="val 10714"/>
            </a:avLst>
          </a:prstGeom>
          <a:solidFill>
            <a:srgbClr val="EFF7F5"/>
          </a:solidFill>
          <a:ln w="12700">
            <a:solidFill>
              <a:srgbClr val="D7E4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41832" y="3483864"/>
            <a:ext cx="4069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Проведенные методики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897880" y="3337560"/>
            <a:ext cx="4434840" cy="512064"/>
          </a:xfrm>
          <a:prstGeom prst="roundRect">
            <a:avLst>
              <a:gd name="adj" fmla="val 10714"/>
            </a:avLst>
          </a:prstGeom>
          <a:solidFill>
            <a:srgbClr val="F5EFE4"/>
          </a:solidFill>
          <a:ln w="12700">
            <a:solidFill>
              <a:srgbClr val="D7E4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62472" y="3483864"/>
            <a:ext cx="4069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Рекомендации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4572000"/>
            <a:ext cx="9601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Форма используется как основа для регистрации первичного обращения и дальнейшей передачи данных в реестр консультаций.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6419088"/>
            <a:ext cx="11155680" cy="0"/>
          </a:xfrm>
          <a:prstGeom prst="line">
            <a:avLst/>
          </a:prstGeom>
          <a:noFill/>
          <a:ln w="12700">
            <a:solidFill>
              <a:srgbClr val="D7E4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647395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79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[ФИО] | [Группа]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9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9552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2F68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Реестр консультаций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58368" y="1024128"/>
            <a:ext cx="7498080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База данных обращений клиентов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1417320"/>
            <a:ext cx="5303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Структура базы данных включает три связанные таблицы: клиенты, специалисты, консультации. Итоговый запрос выводит дату, клиента, специалиста, специализацию и результат консультации.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46520" y="1188720"/>
            <a:ext cx="3749040" cy="877824"/>
          </a:xfrm>
          <a:prstGeom prst="roundRect">
            <a:avLst>
              <a:gd name="adj" fmla="val 6250"/>
            </a:avLst>
          </a:prstGeom>
          <a:solidFill>
            <a:srgbClr val="EFF7F5"/>
          </a:solidFill>
          <a:ln w="12700">
            <a:solidFill>
              <a:srgbClr val="D7E4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92824" y="1298448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68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Клиенты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592824" y="1536192"/>
            <a:ext cx="338328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код клиента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фамилия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адрес</a:t>
            </a:r>
            <a:endParaRPr lang="en-US" sz="880" dirty="0"/>
          </a:p>
        </p:txBody>
      </p:sp>
      <p:sp>
        <p:nvSpPr>
          <p:cNvPr id="8" name="Shape 6"/>
          <p:cNvSpPr/>
          <p:nvPr/>
        </p:nvSpPr>
        <p:spPr>
          <a:xfrm>
            <a:off x="6446520" y="2423160"/>
            <a:ext cx="3749040" cy="877824"/>
          </a:xfrm>
          <a:prstGeom prst="roundRect">
            <a:avLst>
              <a:gd name="adj" fmla="val 6250"/>
            </a:avLst>
          </a:prstGeom>
          <a:solidFill>
            <a:srgbClr val="EFF7F5"/>
          </a:solidFill>
          <a:ln w="12700">
            <a:solidFill>
              <a:srgbClr val="D7E4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92824" y="2532888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68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Специалисты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592824" y="2770632"/>
            <a:ext cx="338328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код специалиста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фамилия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специализация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6446520" y="3657600"/>
            <a:ext cx="3749040" cy="877824"/>
          </a:xfrm>
          <a:prstGeom prst="roundRect">
            <a:avLst>
              <a:gd name="adj" fmla="val 6250"/>
            </a:avLst>
          </a:prstGeom>
          <a:solidFill>
            <a:srgbClr val="F5EFE4"/>
          </a:solidFill>
          <a:ln w="12700">
            <a:solidFill>
              <a:srgbClr val="D7E4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92824" y="3767328"/>
            <a:ext cx="3383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68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Консультации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592824" y="4005072"/>
            <a:ext cx="3383280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код консультации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дата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специалист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2635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502920" y="6419088"/>
            <a:ext cx="11155680" cy="0"/>
          </a:xfrm>
          <a:prstGeom prst="line">
            <a:avLst/>
          </a:prstGeom>
          <a:noFill/>
          <a:ln w="12700">
            <a:solidFill>
              <a:srgbClr val="D7E4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647395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79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[ФИО] | [Группа]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1201400" y="6473952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9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F686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14884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Спасибо за внимание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14400" y="297180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DED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Психологический центр «Гармония»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[Группа]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Отчет психолога о проведенных исследованиях</dc:title>
  <dc:subject>Презентация отчета психолога</dc:subject>
  <dc:creator>[ФИО]</dc:creator>
  <cp:lastModifiedBy>[ФИО]</cp:lastModifiedBy>
  <cp:revision>1</cp:revision>
  <dcterms:created xsi:type="dcterms:W3CDTF">2026-05-06T19:30:50Z</dcterms:created>
  <dcterms:modified xsi:type="dcterms:W3CDTF">2026-05-06T19:30:50Z</dcterms:modified>
</cp:coreProperties>
</file>