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Р1</c:v>
                  </c:pt>
                  <c:pt idx="1">
                    <c:v>Р2</c:v>
                  </c:pt>
                  <c:pt idx="2">
                    <c:v>Р3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26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7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5394960" cy="5394960"/>
          </a:xfrm>
          <a:prstGeom prst="arc">
            <a:avLst/>
          </a:prstGeom>
          <a:noFill/>
          <a:ln w="50800">
            <a:solidFill>
              <a:srgbClr val="2F686D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12188952" cy="1874520"/>
          </a:xfrm>
          <a:prstGeom prst="rect">
            <a:avLst/>
          </a:prstGeom>
          <a:solidFill>
            <a:srgbClr val="F5EF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43000"/>
            <a:ext cx="6766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психолога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проведенных исследованиях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Психологический центр «Гармония»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349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Выполнил(а): Е.Г. Пантелеева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25П179в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0" y="5532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9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работа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информация об отчете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498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проведенных психологических тестов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137160" cy="512064"/>
          </a:xfrm>
          <a:prstGeom prst="rect">
            <a:avLst/>
          </a:prstGeom>
          <a:solidFill>
            <a:srgbClr val="2F68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910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тревожности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8928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вопросов, ответы Да/Нет, балльная интерпретация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137160" cy="512064"/>
          </a:xfrm>
          <a:prstGeom prst="rect">
            <a:avLst/>
          </a:prstGeom>
          <a:solidFill>
            <a:srgbClr val="B97B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5237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Психологический комфорт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28254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обязательных вопросов разных типов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3465576"/>
            <a:ext cx="137160" cy="512064"/>
          </a:xfrm>
          <a:prstGeom prst="rect">
            <a:avLst/>
          </a:prstGeom>
          <a:solidFill>
            <a:srgbClr val="2F68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56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Первичная форма приема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3758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запроса клиента и рекомендаций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4398264"/>
            <a:ext cx="137160" cy="512064"/>
          </a:xfrm>
          <a:prstGeom prst="rect">
            <a:avLst/>
          </a:prstGeom>
          <a:solidFill>
            <a:srgbClr val="B97B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3891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консультаций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4690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специалист, дата, результат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73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Е.Г. Пантелеева | 25П179в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«Уровень тревожности»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498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Сетевое анкетирование и интерпретация результатов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содержит 60 обязательных вопросов. Для каждого вопроса выбран тип ответа «один из списка»: Да / Нет. Результат считается по ключу: часть утверждений оценивается за ответ «Да», часть - за ответ «Нет».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417320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F4D7D0"/>
          </a:solidFill>
          <a:ln w="12700">
            <a:solidFill>
              <a:srgbClr val="C9DCD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84848" y="153619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40-50: очень высокий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75120" y="1993392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F4E4C7"/>
          </a:solidFill>
          <a:ln w="12700">
            <a:solidFill>
              <a:srgbClr val="C9DCD8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4848" y="2112264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25-40: высокий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2569464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E3EFCF"/>
          </a:solidFill>
          <a:ln w="12700">
            <a:solidFill>
              <a:srgbClr val="C9DCD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68833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15-25: средний+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0" y="3145536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DDEDEA"/>
          </a:solidFill>
          <a:ln w="12700">
            <a:solidFill>
              <a:srgbClr val="C9DCD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326440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5-15: средний-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3721608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E8EEF6"/>
          </a:solidFill>
          <a:ln w="12700">
            <a:solidFill>
              <a:srgbClr val="C9DCD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384048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0-5: низкий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2880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достоверности: если контрольных ответов больше 5, результат может быть недостоверным.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73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Е.Г. Пантелеева | 25П179в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психологического комфорта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498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анкета для сетевого опроса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включает 12 обязательных вопросов разных типов: краткий ответ, один из списка, несколько вариантов, линейная шкала и развернутый ответ. Вопросы возраста и пола включены отдельно.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32588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6288" y="1408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 и пол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41080" y="14081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 сведения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720840" y="2112264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21945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стресса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41080" y="21945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вариантов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720840" y="289864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29809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Комфорт и готовность обратиться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41080" y="29809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шкалы 1-5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720840" y="3685032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37673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41080" y="37673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ответ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Е.Г. Пантелеева | 25П179в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drawingml/2006/chart" xmlns:ns4="http://schemas.openxmlformats.org/officeDocument/2006/relationships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640080" y="502920"/>
            <ns1:ext cx="7955280" cy="502920"/>
          </ns1:xfrm>
          <ns1:prstGeom prst="rect">
            <ns1:avLst/>
          </ns1:prstGeom>
          <ns1:noFill/>
          <ns1:ln/>
        </ns0:spPr>
        <ns0:txBody>
          <ns1:bodyPr wrap="square" lIns="254" tIns="254" rIns="254" bIns="254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2F686D"/>
                </ns1:solidFill>
                <ns1:latin typeface="Arial" pitchFamily="34" charset="0"/>
                <ns1:ea typeface="Arial" pitchFamily="34" charset="-122"/>
                <ns1:cs typeface="Arial" pitchFamily="34" charset="-120"/>
              </ns1:rPr>
              <ns1:t>Результаты теста тревожности</ns1:t>
            </ns1:r>
            <ns1:endParaRPr lang="en-US" sz="25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658368" y="1024128"/>
            <ns1:ext cx="7498080" cy="256032"/>
          </ns1:xfrm>
          <ns1:prstGeom prst="rect">
            <ns1:avLst/>
          </ns1:prstGeom>
          <ns1:noFill/>
          <ns1:ln/>
        </ns0:spPr>
        <ns0:txBody>
          <ns1:bodyPr wrap="square" lIns="254" tIns="254" rIns="254" bIns="254" rtlCol="0" anchor="ctr"/>
          <ns1:lstStyle/>
          <ns1:p>
            <ns1:pPr indent="0" marL="0">
              <ns1:buNone/>
            </ns1:pPr>
            <ns1:r>
              <ns1:rPr lang="en-US" sz="1100" dirty="0">
                <ns1:solidFill>
                  <ns1:srgbClr val="5C6E70"/>
                </ns1:solidFill>
                <ns1:latin typeface="Arial" pitchFamily="34" charset="0"/>
                <ns1:ea typeface="Arial" pitchFamily="34" charset="-122"/>
                <ns1:cs typeface="Arial" pitchFamily="34" charset="-120"/>
              </ns1:rPr>
              <ns1:t>Реальные ответы Google Forms, 3 респондента</ns1:t>
            </ns1:r>
            <ns1:endParaRPr lang="en-US" sz="1100" dirty="0"/>
          </ns1:p>
        </ns0:txBody>
      </ns0:sp>
      <ns0:graphicFrame>
        <ns0:nvGraphicFramePr>
          <ns0:cNvPr id="6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749808" y="1444752"/>
          <ns1:ext cx="6675120" cy="2194560"/>
        </ns0:xfrm>
        <ns1:graphic>
          <ns1:graphicData uri="http://schemas.openxmlformats.org/drawingml/2006/table">
            <ns1:tbl>
              <ns1:tblPr/>
              <ns1:tblGrid>
                <ns1:gridCol w="1554480"/>
                <ns1:gridCol w="1097280"/>
                <ns1:gridCol w="4023360"/>
              </ns1:tblGrid>
              <ns1:tr h="54864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Респондент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Баллы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Интерпретация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1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18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средний уровень тревоги с тенденцией к высокому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2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31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высокий уровень тревоги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3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29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263538"/>
                          </ns1:solidFill>
                          <ns1:latin typeface="Arial" pitchFamily="34" charset="0"/>
                          <ns1:ea typeface="Arial" pitchFamily="34" charset="-122"/>
                          <ns1:cs typeface="Arial" pitchFamily="34" charset="-120"/>
                        </ns1:rPr>
                        <ns1:t>высокий уровень тревоги; результаты могут быть недостоверными</ns1:t>
                      </ns1:r>
                      <ns1:endParaRPr lang="en-US" sz="1200" dirty="0">
                        <ns1:latin typeface="Arial" charset="0"/>
                        <ns1:ea typeface="Arial" charset="0"/>
                        <ns1:cs typeface="Arial" charset="0"/>
                      </ns1:endParaRPr>
                    </ns1:p>
                  </ns1:txBody>
                  <ns1:tcPr marL="73152" marR="73152" marT="73152" marB="73152" anchor="mid">
                    <ns1:lnL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D7E4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5" name="Chart 0" descr=""/>
          <ns0:cNvGraphicFramePr/>
          <ns0:nvPr/>
        </ns0:nvGraphicFramePr>
        <ns0:xfrm>
          <ns1:off x="7818120" y="1325880"/>
          <ns1:ext cx="3383280" cy="2788920"/>
        </ns0:xfrm>
        <ns1:graphic>
          <ns1:graphicData uri="http://schemas.openxmlformats.org/drawingml/2006/chart">
            <ns3:chart ns4:id="rId1"/>
          </ns1:graphicData>
        </ns1:graphic>
      </ns0:graphicFrame>
      <ns0:sp>
        <ns0:nvSpPr>
          <ns0:cNvPr id="6" name="Shape 2"/>
          <ns0:cNvSpPr/>
          <ns0:nvPr/>
        </ns0:nvSpPr>
        <ns0:spPr>
          <ns1:xfrm>
            <ns1:off x="502920" y="6419088"/>
            <ns1:ext cx="11155680" cy="0"/>
          </ns1:xfrm>
          <ns1:prstGeom prst="line">
            <ns1:avLst/>
          </ns1:prstGeom>
          <ns1:noFill/>
          <ns1:ln w="12700">
            <ns1:solidFill>
              <ns1:srgbClr val="D7E4E1"/>
            </ns1:solidFill>
            <ns1:prstDash val="solid"/>
          </ns1:ln>
        </ns0:spPr>
      </ns0:sp>
      <ns0:sp>
        <ns0:nvSpPr>
          <ns0:cNvPr id="7" name="Text 3"/>
          <ns0:cNvSpPr/>
          <ns0:nvPr/>
        </ns0:nvSpPr>
        <ns0:spPr>
          <ns1:xfrm>
            <ns1:off x="548640" y="6473952"/>
            <ns1:ext cx="393192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850" dirty="0">
                <ns1:solidFill>
                  <ns1:srgbClr val="66797C"/>
                </ns1:solidFill>
                <ns1:latin typeface="Arial" pitchFamily="34" charset="0"/>
                <ns1:ea typeface="Arial" pitchFamily="34" charset="-122"/>
                <ns1:cs typeface="Arial" pitchFamily="34" charset="-120"/>
              </ns1:rPr>
              <ns1:t>Е.Г. Пантелеева | 25П179в</ns1:t>
            </ns1:r>
            <ns1:endParaRPr lang="en-US" sz="850" dirty="0"/>
          </ns1:p>
        </ns0:txBody>
      </ns0:sp>
      <ns0:sp>
        <ns0:nvSpPr>
          <ns0:cNvPr id="8" name="Text 4"/>
          <ns0:cNvSpPr/>
          <ns0:nvPr/>
        </ns0:nvSpPr>
        <ns0:spPr>
          <ns1:xfrm>
            <ns1:off x="11201400" y="6473952"/>
            <ns1:ext cx="4114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850" dirty="0">
                <ns1:solidFill>
                  <ns1:srgbClr val="66797C"/>
                </ns1:solidFill>
                <ns1:latin typeface="Arial" pitchFamily="34" charset="0"/>
                <ns1:ea typeface="Arial" pitchFamily="34" charset="-122"/>
                <ns1:cs typeface="Arial" pitchFamily="34" charset="-120"/>
              </ns1:rPr>
              <ns1:t>5</ns1:t>
            </ns1:r>
            <ns1:endParaRPr lang="en-US" sz="850" dirty="0"/>
          </ns1:p>
        </ns0:txBody>
      </ns0:sp>
    </ns0:spTree>
  </ns0:cSld>
  <ns0:clrMapOvr>
    <ns1:masterClrMapping/>
  </ns0:clrMapOvr>
</ns0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Первичная форма приема клиента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498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Word для фиксации обращения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6362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Контактные данные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97880" y="141732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62472" y="156362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клиента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2374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жалобы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237744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252374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Краткий анамнез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48386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Проведенные методики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3337560"/>
            <a:ext cx="4434840" cy="512064"/>
          </a:xfrm>
          <a:prstGeom prst="roundRect">
            <a:avLst>
              <a:gd name="adj" fmla="val 10714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348386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используется как основа для регистрации первичного обращения и дальнейшей передачи данных в реестр консультаций.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Е.Г. Пантелеева | 25П179в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консультаций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498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 обращений клиентов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базы данных включает три связанные таблицы: клиенты, специалисты, консультации. Итоговый запрос выводит дату, клиента, специалиста, специализацию и результат консультации.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46520" y="1188720"/>
            <a:ext cx="3749040" cy="877824"/>
          </a:xfrm>
          <a:prstGeom prst="roundRect">
            <a:avLst>
              <a:gd name="adj" fmla="val 6250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92824" y="12984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92824" y="1536192"/>
            <a:ext cx="33832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клиента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фамилия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446520" y="2423160"/>
            <a:ext cx="3749040" cy="877824"/>
          </a:xfrm>
          <a:prstGeom prst="roundRect">
            <a:avLst>
              <a:gd name="adj" fmla="val 6250"/>
            </a:avLst>
          </a:prstGeom>
          <a:solidFill>
            <a:srgbClr val="EFF7F5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25328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92824" y="2770632"/>
            <a:ext cx="33832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специалиста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фамилия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специализация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46520" y="3657600"/>
            <a:ext cx="3749040" cy="877824"/>
          </a:xfrm>
          <a:prstGeom prst="roundRect">
            <a:avLst>
              <a:gd name="adj" fmla="val 6250"/>
            </a:avLst>
          </a:prstGeom>
          <a:solidFill>
            <a:srgbClr val="F5EFE4"/>
          </a:solidFill>
          <a:ln w="12700">
            <a:solidFill>
              <a:srgbClr val="D7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37673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Консультации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92824" y="4005072"/>
            <a:ext cx="33832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консультации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6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Е.Г. Пантелеева | 25П179в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8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971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Психологический центр «Гармония»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25П179в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психолога о проведенных исследованиях</dc:title>
  <dc:subject>Презентация отчета психолога</dc:subject>
  <dc:creator>Е.Г. Пантелеева</dc:creator>
  <cp:lastModifiedBy>Е.Г. Пантелеева</cp:lastModifiedBy>
  <cp:revision>1</cp:revision>
  <dcterms:created xsi:type="dcterms:W3CDTF">2026-05-06T19:30:50Z</dcterms:created>
  <dcterms:modified xsi:type="dcterms:W3CDTF">2026-05-06T19:30:50Z</dcterms:modified>
</cp:coreProperties>
</file>